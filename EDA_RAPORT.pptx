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679AE-1C4F-0EA2-F1ED-A07AF91C1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0513A1-F8DE-91FD-4F18-4D1A91407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64646-7FE9-1C68-DF90-8C25FC207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3DAB7-9638-AA82-E423-3BB56C42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D99E91-1BF6-6E1A-A755-4A76163B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65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D6AC-191D-E1F6-7C65-03464CE49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FA582-1CAA-0C78-A57E-F60796C64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6FAD-A84B-ABA3-07C0-A1EA2D9A7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C1D88-5AD1-2DF6-F00E-0D5C015F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F75BF-96CF-04E3-6824-AF9519CA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532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02490-1A17-EE91-8A63-FC88A719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6E5FFB-CD80-F19F-57D6-E6478AD55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1BA95-AF72-FAD1-96B5-C049A4407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E95D1-A68C-C39E-584E-316258EFA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BCFEF-4DF9-4553-CCEF-468E3683B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8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57293-D607-9E1E-7339-583EFFE93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13458-E742-266A-47D3-B3D3EE19D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8E076A-40EA-D276-8BB3-1B0AE5E480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DE19F-D150-8EFF-173A-AA3ADF72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3153E5-B40D-D8B0-4A20-0DC5698BC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A00AD-B1F0-F640-41BB-443AE7E3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0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77CC4-6A32-7613-E0D6-C35117DF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08752-6CA3-65FD-4CE1-4C48501B4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2B6FB6-2311-0498-C0E1-13B9C78F5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8DD6C4-34EC-B811-F0A1-D3AC59228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A4123C-127C-F603-AF54-CF95E405C3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9C3F5A-29C0-AD63-6E97-23E925D69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429002-7224-0F73-697D-FD467A97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797B89-DC46-1EA0-5767-18AA59CC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062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FC02-5254-841B-ACE9-6BEAFC21F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10388F-07A0-B8FF-94C1-55001D499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6C28D0-5BD1-837A-6C1C-997B8BA14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990B98-48E9-6B49-27D0-0893CC82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526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0352AD-1B58-611F-041B-CFB576B86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5F1C78-E348-03E9-9CDF-ADD26DBBF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BD928E-8B8B-B035-958F-610DD73B9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943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88700-48B8-FABC-B4D7-83D6ED2EC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E707C6-B794-A264-9D34-27ED5A939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CD52F9-9518-92A5-8A5A-56B32BE15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3F698-D315-4CEC-0216-B916DC9E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16AFF2-31FE-3020-75CC-35778C317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77625-585A-F265-7031-04E029A9D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709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EB586-3F47-ED09-DD1C-9C59FAD53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1DDAE49-8857-53FC-7DC8-56AF2D9049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2DC2D-2455-C278-CAE8-20EDEA7B0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1AE484-433D-5B59-D240-FF35A322F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24DD3-8D34-6721-CC4A-64BF09E6A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C57434-3BB9-129A-BA40-5D00128A2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079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5A359-4118-6798-F68A-A8999334D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915918-F30E-0199-984A-D621206EA0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F29B2B-F3DE-F2F4-F163-4E91981FC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2C10C5-5ED3-7E89-6129-81E4F9574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BA317-8579-7EB2-B2D3-AEA3CAEA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8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25A19D-B223-EC52-9939-E07BD1FEF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A2909F-3993-9D0B-FD51-BB4A104718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502E4-37D3-1AB6-0C4E-1B04FA4C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0D4A3-E70F-B983-259D-F24393830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B3417-A476-6006-2095-27CE5E180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852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49036-443F-3703-9647-D7E5C2A7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F1CB1-EA0F-4950-4C9A-F3FF6FF5F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5F701-2BA7-F615-F7AF-688C6FE12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45B44A-76D4-4EF7-B7A9-F492ED3AC3DD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C1E34-C5B2-FD0C-7E34-49B6A8B8D0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1050E-04C9-CBAD-871D-14000CDD40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79DBEF-1A78-4B9D-BF11-6F56ECED4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74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1A32FD-624A-ECA5-C884-148649F5C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D79D8AE-F33B-0924-4900-B9EDAC23D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4048" y="5369718"/>
            <a:ext cx="3136392" cy="67879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BY RUFAT ALLAHVERDI</a:t>
            </a:r>
          </a:p>
        </p:txBody>
      </p:sp>
    </p:spTree>
    <p:extLst>
      <p:ext uri="{BB962C8B-B14F-4D97-AF65-F5344CB8AC3E}">
        <p14:creationId xmlns:p14="http://schemas.microsoft.com/office/powerpoint/2010/main" val="2791200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7349C0-9297-3019-F6C0-1E123C4C3E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Layihənin</a:t>
            </a:r>
            <a:r>
              <a:rPr lang="en-US" sz="5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54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məqsədi</a:t>
            </a:r>
            <a:endParaRPr lang="en-US" sz="5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05841-67AF-1C2A-FA43-CAFF5F10EA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layihənin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məqsədi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qiymətlərinə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təsir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edən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əsas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faktorları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tapmaqdır</a:t>
            </a:r>
            <a:r>
              <a:rPr lang="en-US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Məsələn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otaq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sayı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yeni/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köhnə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tikili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mərtəbə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təmir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vəziyyəti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ipoteka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çıxarış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kimi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dəyişənlər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qiymətə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necə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təsir</a:t>
            </a:r>
            <a:r>
              <a:rPr lang="en-US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edir.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FE6B86-77F4-A034-84EA-7DFEA9E4B4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9" r="19942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26364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05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0" name="Oval 99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Rectangle 106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Rectangle 120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B441AA3-5A78-E445-F7F6-3F566503E2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4038037"/>
            <a:ext cx="5107366" cy="2087424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48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Məlumat dəstinə ümumi baxış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41498B-CC17-E260-443E-6BA3668B2B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Məlumat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dəsti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35,503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sətir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və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13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sütundan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ibarətdir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Dataset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mənzil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elanları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üzrə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qiymət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sahə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otaq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sayı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tikili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növü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təmir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vəziyyəti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ipoteka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və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çıxarış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kimi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məlumatları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əhatə</a:t>
            </a:r>
            <a:r>
              <a:rPr lang="az-Latn-AZ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edir.</a:t>
            </a:r>
            <a:endParaRPr lang="en-US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4BC791-2632-2874-5316-237CD758D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59" y="881465"/>
            <a:ext cx="10843065" cy="2737875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61322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E5E2F-0671-64CE-4DC4-AF31D2092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702341"/>
            <a:ext cx="7061616" cy="804161"/>
          </a:xfrm>
        </p:spPr>
        <p:txBody>
          <a:bodyPr anchor="ctr">
            <a:normAutofit/>
          </a:bodyPr>
          <a:lstStyle/>
          <a:p>
            <a:pPr algn="l"/>
            <a:r>
              <a:rPr lang="az-Latn-AZ" sz="3200" dirty="0"/>
              <a:t>DATA CLEAN</a:t>
            </a:r>
            <a:r>
              <a:rPr lang="en-US" sz="3200" dirty="0"/>
              <a:t>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F049B4-A967-3664-78A0-04647C3546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99816" y="5702341"/>
            <a:ext cx="3453983" cy="804160"/>
          </a:xfrm>
        </p:spPr>
        <p:txBody>
          <a:bodyPr anchor="ctr">
            <a:normAutofit fontScale="92500"/>
          </a:bodyPr>
          <a:lstStyle/>
          <a:p>
            <a:pPr algn="r"/>
            <a:r>
              <a:rPr lang="en-US" sz="1600" dirty="0"/>
              <a:t>İlkin </a:t>
            </a:r>
            <a:r>
              <a:rPr lang="en-US" sz="1600" dirty="0" err="1"/>
              <a:t>baxış</a:t>
            </a:r>
            <a:r>
              <a:rPr lang="en-US" sz="1600" dirty="0"/>
              <a:t> </a:t>
            </a:r>
            <a:r>
              <a:rPr lang="en-US" sz="1600" dirty="0" err="1"/>
              <a:t>zamanı</a:t>
            </a:r>
            <a:r>
              <a:rPr lang="en-US" sz="1600" dirty="0"/>
              <a:t> </a:t>
            </a:r>
            <a:r>
              <a:rPr lang="en-US" sz="1600" dirty="0" err="1"/>
              <a:t>room_number</a:t>
            </a:r>
            <a:r>
              <a:rPr lang="en-US" sz="1600" dirty="0"/>
              <a:t> </a:t>
            </a:r>
            <a:r>
              <a:rPr lang="en-US" sz="1600" dirty="0" err="1"/>
              <a:t>istisna</a:t>
            </a:r>
            <a:r>
              <a:rPr lang="en-US" sz="1600" dirty="0"/>
              <a:t> </a:t>
            </a:r>
            <a:r>
              <a:rPr lang="en-US" sz="1600" dirty="0" err="1"/>
              <a:t>olmaqla</a:t>
            </a:r>
            <a:r>
              <a:rPr lang="en-US" sz="1600" dirty="0"/>
              <a:t>, </a:t>
            </a:r>
            <a:r>
              <a:rPr lang="en-US" sz="1600" dirty="0" err="1"/>
              <a:t>sütunların</a:t>
            </a:r>
            <a:r>
              <a:rPr lang="en-US" sz="1600" dirty="0"/>
              <a:t> </a:t>
            </a:r>
            <a:r>
              <a:rPr lang="en-US" sz="1600" dirty="0" err="1"/>
              <a:t>əksəriyyətinin</a:t>
            </a:r>
            <a:r>
              <a:rPr lang="en-US" sz="1600" dirty="0"/>
              <a:t> string </a:t>
            </a:r>
            <a:r>
              <a:rPr lang="en-US" sz="1600" dirty="0" err="1"/>
              <a:t>tipində</a:t>
            </a:r>
            <a:r>
              <a:rPr lang="en-US" sz="1600" dirty="0"/>
              <a:t> olduğu </a:t>
            </a:r>
            <a:r>
              <a:rPr lang="en-US" sz="1600" dirty="0" err="1"/>
              <a:t>müəyyən</a:t>
            </a:r>
            <a:r>
              <a:rPr lang="en-US" sz="1600" dirty="0"/>
              <a:t> </a:t>
            </a:r>
            <a:r>
              <a:rPr lang="en-US" sz="1600" dirty="0" err="1"/>
              <a:t>edilmişdir</a:t>
            </a:r>
            <a:r>
              <a:rPr lang="en-US" sz="1600" dirty="0"/>
              <a:t>.</a:t>
            </a:r>
            <a:endParaRPr lang="en-US" sz="15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89E4EE-6005-4643-2AEB-152007E540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" r="803" b="-3"/>
          <a:stretch>
            <a:fillRect/>
          </a:stretch>
        </p:blipFill>
        <p:spPr>
          <a:xfrm>
            <a:off x="-9" y="10"/>
            <a:ext cx="6096000" cy="5279933"/>
          </a:xfrm>
          <a:prstGeom prst="rect">
            <a:avLst/>
          </a:prstGeom>
        </p:spPr>
      </p:pic>
      <p:pic>
        <p:nvPicPr>
          <p:cNvPr id="5" name="Picture 4" descr="Hand spraying sanitizer">
            <a:extLst>
              <a:ext uri="{FF2B5EF4-FFF2-40B4-BE49-F238E27FC236}">
                <a16:creationId xmlns:a16="http://schemas.microsoft.com/office/drawing/2014/main" id="{B5E71882-4A46-0612-1603-311A63723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2933"/>
          <a:stretch>
            <a:fillRect/>
          </a:stretch>
        </p:blipFill>
        <p:spPr>
          <a:xfrm>
            <a:off x="6096008" y="10"/>
            <a:ext cx="6095999" cy="5279933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4FAA5DCB-E796-5631-BEDF-C3538DF184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5186489"/>
            <a:ext cx="12192000" cy="123364"/>
            <a:chOff x="1" y="6737460"/>
            <a:chExt cx="12192000" cy="12336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D0E53FB-E9D7-2C90-1C0C-D8E0FA5DB8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320" y="703141"/>
              <a:ext cx="123362" cy="12192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1AE1BA7-C690-2F30-65D6-3759194F2C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40559" y="4909383"/>
              <a:ext cx="123362" cy="3779520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77964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4DF41-CDE1-7C06-AFCB-8CB70D1208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8882" y="639193"/>
            <a:ext cx="3571810" cy="3573516"/>
          </a:xfrm>
        </p:spPr>
        <p:txBody>
          <a:bodyPr>
            <a:normAutofit/>
          </a:bodyPr>
          <a:lstStyle/>
          <a:p>
            <a:pPr algn="l"/>
            <a:r>
              <a:rPr lang="az-Latn-AZ" sz="5600"/>
              <a:t>DATA CLEAN</a:t>
            </a:r>
            <a:r>
              <a:rPr lang="en-US" sz="5600"/>
              <a:t>ING</a:t>
            </a:r>
            <a:endParaRPr lang="en-US" sz="5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29E0B8-A589-A63F-3924-67EAE01C7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8882" y="4631161"/>
            <a:ext cx="3571810" cy="1559327"/>
          </a:xfrm>
        </p:spPr>
        <p:txBody>
          <a:bodyPr>
            <a:normAutofit/>
          </a:bodyPr>
          <a:lstStyle/>
          <a:p>
            <a:pPr algn="l"/>
            <a:r>
              <a:rPr lang="en-US" sz="1700"/>
              <a:t>Məlumat tipləri analiz üçün uyğun formata çevrildi və </a:t>
            </a:r>
            <a:r>
              <a:rPr lang="en-US" sz="1700" b="1"/>
              <a:t>floor</a:t>
            </a:r>
            <a:r>
              <a:rPr lang="en-US" sz="1700"/>
              <a:t> sütunu üzərində feature engineering edilərək </a:t>
            </a:r>
            <a:r>
              <a:rPr lang="en-US" sz="1700" b="1"/>
              <a:t>current_floor </a:t>
            </a:r>
            <a:r>
              <a:rPr lang="en-US" sz="1700"/>
              <a:t>və </a:t>
            </a:r>
            <a:r>
              <a:rPr lang="en-US" sz="1700" b="1"/>
              <a:t>total_floor</a:t>
            </a:r>
            <a:r>
              <a:rPr lang="en-US" sz="1700"/>
              <a:t> adlı iki yeni sütun yaradıldı.</a:t>
            </a:r>
          </a:p>
          <a:p>
            <a:pPr algn="l"/>
            <a:endParaRPr lang="en-US" sz="1700" dirty="0"/>
          </a:p>
        </p:txBody>
      </p:sp>
      <p:sp>
        <p:nvSpPr>
          <p:cNvPr id="36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331E1A-F50D-143D-B04D-28560F0338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4296" y="652414"/>
            <a:ext cx="7214616" cy="552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D8F3F9-53A1-83F5-2487-DBE627FC1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az-Latn-AZ" sz="4800" dirty="0"/>
              <a:t>Missing Values</a:t>
            </a:r>
            <a:endParaRPr lang="en-US" sz="48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277444-2FDC-F58C-04FB-563DB446E1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Hər sütun üzrə əksik dəyərlər müəyyən edilərək analiz edilmişdir.</a:t>
            </a:r>
          </a:p>
          <a:p>
            <a:pPr algn="l"/>
            <a:endParaRPr lang="en-US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3432D-31C3-D508-8463-BB36FF177D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907" y="1557204"/>
            <a:ext cx="5163022" cy="3365592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94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2DA60C47-9F76-46D7-9D57-E0C7BA42B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F969D2-A910-ECEC-D5E8-836D22445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78596" y="679730"/>
            <a:ext cx="4475848" cy="3787041"/>
          </a:xfrm>
        </p:spPr>
        <p:txBody>
          <a:bodyPr>
            <a:normAutofit/>
          </a:bodyPr>
          <a:lstStyle/>
          <a:p>
            <a:pPr algn="l"/>
            <a:r>
              <a:rPr lang="az-Latn-AZ" dirty="0"/>
              <a:t>Missing Values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282BAF-8F03-1FA5-E334-461BA7A3A9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8595" y="5045529"/>
            <a:ext cx="4475848" cy="1322614"/>
          </a:xfrm>
        </p:spPr>
        <p:txBody>
          <a:bodyPr>
            <a:normAutofit fontScale="92500"/>
          </a:bodyPr>
          <a:lstStyle/>
          <a:p>
            <a:pPr algn="l"/>
            <a:r>
              <a:rPr lang="en-US" sz="1800" dirty="0"/>
              <a:t>Repair </a:t>
            </a:r>
            <a:r>
              <a:rPr lang="en-US" sz="1800" dirty="0" err="1"/>
              <a:t>və</a:t>
            </a:r>
            <a:r>
              <a:rPr lang="en-US" sz="1800" dirty="0"/>
              <a:t> mortgage </a:t>
            </a:r>
            <a:r>
              <a:rPr lang="en-US" sz="1800" dirty="0" err="1"/>
              <a:t>sütunlarında</a:t>
            </a:r>
            <a:r>
              <a:rPr lang="en-US" sz="1800" dirty="0"/>
              <a:t> </a:t>
            </a:r>
            <a:r>
              <a:rPr lang="en-US" sz="1800" dirty="0" err="1"/>
              <a:t>olan</a:t>
            </a:r>
            <a:r>
              <a:rPr lang="en-US" sz="1800" dirty="0"/>
              <a:t> </a:t>
            </a:r>
            <a:r>
              <a:rPr lang="en-US" sz="1800" dirty="0" err="1"/>
              <a:t>NaN</a:t>
            </a:r>
            <a:r>
              <a:rPr lang="en-US" sz="1800" dirty="0"/>
              <a:t> </a:t>
            </a:r>
            <a:r>
              <a:rPr lang="en-US" sz="1800" dirty="0" err="1"/>
              <a:t>dəyərlər</a:t>
            </a:r>
            <a:r>
              <a:rPr lang="en-US" sz="1800" dirty="0"/>
              <a:t> </a:t>
            </a:r>
            <a:r>
              <a:rPr lang="en-US" sz="1800" dirty="0" err="1"/>
              <a:t>modaya</a:t>
            </a:r>
            <a:r>
              <a:rPr lang="en-US" sz="1800" dirty="0"/>
              <a:t> </a:t>
            </a:r>
            <a:r>
              <a:rPr lang="en-US" sz="1800" dirty="0" err="1"/>
              <a:t>əsasən</a:t>
            </a:r>
            <a:r>
              <a:rPr lang="en-US" sz="1800" dirty="0"/>
              <a:t> “</a:t>
            </a:r>
            <a:r>
              <a:rPr lang="en-US" sz="1800" dirty="0" err="1"/>
              <a:t>yoxdur</a:t>
            </a:r>
            <a:r>
              <a:rPr lang="en-US" sz="1800" dirty="0"/>
              <a:t>” </a:t>
            </a:r>
            <a:r>
              <a:rPr lang="en-US" sz="1800" dirty="0" err="1"/>
              <a:t>dəyəri</a:t>
            </a:r>
            <a:r>
              <a:rPr lang="en-US" sz="1800" dirty="0"/>
              <a:t> </a:t>
            </a:r>
            <a:r>
              <a:rPr lang="en-US" sz="1800" dirty="0" err="1"/>
              <a:t>ilə</a:t>
            </a:r>
            <a:r>
              <a:rPr lang="en-US" sz="1800" dirty="0"/>
              <a:t> </a:t>
            </a:r>
            <a:r>
              <a:rPr lang="en-US" sz="1800" dirty="0" err="1"/>
              <a:t>əvəz</a:t>
            </a:r>
            <a:r>
              <a:rPr lang="en-US" sz="1800" dirty="0"/>
              <a:t> </a:t>
            </a:r>
            <a:r>
              <a:rPr lang="en-US" sz="1800" dirty="0" err="1"/>
              <a:t>edilmişdir</a:t>
            </a:r>
            <a:r>
              <a:rPr lang="en-US" sz="1800" dirty="0"/>
              <a:t>. </a:t>
            </a:r>
            <a:r>
              <a:rPr lang="en-US" sz="1800" dirty="0" err="1"/>
              <a:t>Digər</a:t>
            </a:r>
            <a:r>
              <a:rPr lang="en-US" sz="1800" dirty="0"/>
              <a:t> </a:t>
            </a:r>
            <a:r>
              <a:rPr lang="en-US" sz="1800" dirty="0" err="1"/>
              <a:t>sütunlardakı</a:t>
            </a:r>
            <a:r>
              <a:rPr lang="en-US" sz="1800" dirty="0"/>
              <a:t> </a:t>
            </a:r>
            <a:r>
              <a:rPr lang="en-US" sz="1800" dirty="0" err="1"/>
              <a:t>NaN</a:t>
            </a:r>
            <a:r>
              <a:rPr lang="en-US" sz="1800" dirty="0"/>
              <a:t> </a:t>
            </a:r>
            <a:r>
              <a:rPr lang="en-US" sz="1800" dirty="0" err="1"/>
              <a:t>dəyərlər</a:t>
            </a:r>
            <a:r>
              <a:rPr lang="en-US" sz="1800" dirty="0"/>
              <a:t> </a:t>
            </a:r>
            <a:r>
              <a:rPr lang="en-US" sz="1800" dirty="0" err="1"/>
              <a:t>isə</a:t>
            </a:r>
            <a:r>
              <a:rPr lang="en-US" sz="1800" dirty="0"/>
              <a:t> </a:t>
            </a:r>
            <a:r>
              <a:rPr lang="en-US" sz="1800" dirty="0" err="1"/>
              <a:t>eyni</a:t>
            </a:r>
            <a:r>
              <a:rPr lang="en-US" sz="1800" dirty="0"/>
              <a:t> </a:t>
            </a:r>
            <a:r>
              <a:rPr lang="en-US" sz="1800" dirty="0" err="1"/>
              <a:t>sətrlərdə</a:t>
            </a:r>
            <a:r>
              <a:rPr lang="en-US" sz="1800" dirty="0"/>
              <a:t> </a:t>
            </a:r>
            <a:r>
              <a:rPr lang="en-US" sz="1800" dirty="0" err="1"/>
              <a:t>yerləşdiyi</a:t>
            </a:r>
            <a:r>
              <a:rPr lang="en-US" sz="1800" dirty="0"/>
              <a:t> </a:t>
            </a:r>
            <a:r>
              <a:rPr lang="en-US" sz="1800" dirty="0" err="1"/>
              <a:t>və</a:t>
            </a:r>
            <a:r>
              <a:rPr lang="en-US" sz="1800" dirty="0"/>
              <a:t> </a:t>
            </a:r>
            <a:r>
              <a:rPr lang="en-US" sz="1800" dirty="0" err="1"/>
              <a:t>analiz</a:t>
            </a:r>
            <a:r>
              <a:rPr lang="en-US" sz="1800" dirty="0"/>
              <a:t> </a:t>
            </a:r>
            <a:r>
              <a:rPr lang="en-US" sz="1800" dirty="0" err="1"/>
              <a:t>üçün</a:t>
            </a:r>
            <a:r>
              <a:rPr lang="en-US" sz="1800" dirty="0"/>
              <a:t> </a:t>
            </a:r>
            <a:r>
              <a:rPr lang="en-US" sz="1800" dirty="0" err="1"/>
              <a:t>yararsız</a:t>
            </a:r>
            <a:r>
              <a:rPr lang="en-US" sz="1800" dirty="0"/>
              <a:t> olduğu </a:t>
            </a:r>
            <a:r>
              <a:rPr lang="en-US" sz="1800" dirty="0" err="1"/>
              <a:t>üçün</a:t>
            </a:r>
            <a:r>
              <a:rPr lang="en-US" sz="1800" dirty="0"/>
              <a:t> </a:t>
            </a:r>
            <a:r>
              <a:rPr lang="en-US" sz="1800" dirty="0" err="1"/>
              <a:t>silinmişdir</a:t>
            </a:r>
            <a:r>
              <a:rPr lang="en-US" sz="1800" dirty="0"/>
              <a:t>.</a:t>
            </a:r>
            <a:endParaRPr lang="en-US" sz="1700" dirty="0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365538" y="385757"/>
            <a:ext cx="1715478" cy="644655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413" y="269325"/>
            <a:ext cx="5591744" cy="617193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C98BFC-651C-1D85-AE6F-A71B9597D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169" y="425052"/>
            <a:ext cx="3908231" cy="282549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A8D37A-18DB-314F-0C2D-8C5F7798A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605" y="4324503"/>
            <a:ext cx="5127395" cy="1051115"/>
          </a:xfrm>
          <a:prstGeom prst="rect">
            <a:avLst/>
          </a:prstGeom>
        </p:spPr>
      </p:pic>
      <p:sp>
        <p:nvSpPr>
          <p:cNvPr id="147" name="Rectangle 146">
            <a:extLst>
              <a:ext uri="{FF2B5EF4-FFF2-40B4-BE49-F238E27FC236}">
                <a16:creationId xmlns:a16="http://schemas.microsoft.com/office/drawing/2014/main" id="{6CF143E5-57C3-46A3-91A2-EDAA7A8E6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0543" y="2754068"/>
            <a:ext cx="149016" cy="170992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3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09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349909-D321-6F3D-902B-509EDB78D7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07000" y="583345"/>
            <a:ext cx="5833787" cy="2274155"/>
          </a:xfrm>
        </p:spPr>
        <p:txBody>
          <a:bodyPr anchor="b">
            <a:normAutofit/>
          </a:bodyPr>
          <a:lstStyle/>
          <a:p>
            <a:pPr algn="r"/>
            <a:r>
              <a:rPr lang="az-Latn-AZ" sz="5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</a:t>
            </a:r>
            <a:r>
              <a:rPr lang="en-US" sz="5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IPTIVE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B40C8-5E4D-B2D4-BC03-A70036E0D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6993" y="3123651"/>
            <a:ext cx="5833787" cy="1811206"/>
          </a:xfrm>
        </p:spPr>
        <p:txBody>
          <a:bodyPr>
            <a:normAutofit/>
          </a:bodyPr>
          <a:lstStyle/>
          <a:p>
            <a:pPr algn="r"/>
            <a:r>
              <a:rPr lang="en-US" sz="2000">
                <a:solidFill>
                  <a:srgbClr val="FFFFFF"/>
                </a:solidFill>
              </a:rPr>
              <a:t>price sütunu üzrə orta qiymət 237,061 AZN, median 192,000 AZN, mode isə 135,000 AZN-dir. Mean &gt; median &gt; mode olduğu üçün qiymət paylanmasının sağa meyilli olduğu görünür.</a:t>
            </a:r>
          </a:p>
        </p:txBody>
      </p:sp>
      <p:sp>
        <p:nvSpPr>
          <p:cNvPr id="114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Graphic 91" descr="Bar chart">
            <a:extLst>
              <a:ext uri="{FF2B5EF4-FFF2-40B4-BE49-F238E27FC236}">
                <a16:creationId xmlns:a16="http://schemas.microsoft.com/office/drawing/2014/main" id="{4839D557-600B-A542-4926-9C4800CD80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08391" y="2814239"/>
            <a:ext cx="3217333" cy="3217333"/>
          </a:xfrm>
          <a:prstGeom prst="rect">
            <a:avLst/>
          </a:prstGeom>
        </p:spPr>
      </p:pic>
      <p:sp>
        <p:nvSpPr>
          <p:cNvPr id="118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0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48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0F018B-A6F8-E5F5-1A07-7AAD1510B7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499" y="390832"/>
            <a:ext cx="323358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Qiymət paylanması sağa meyillidir. Bu, datasetdə az sayda çox yüksək qiymətli mənzillərin olduğunu göstərir.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DBEF9A-D2FC-04F2-F870-2E809333A5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73" y="1966293"/>
            <a:ext cx="1053765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93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787E68-DBC7-4BBC-4E6D-D124B16555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35" y="4018137"/>
            <a:ext cx="5071221" cy="212958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DESCRIPTIVE STATISTICS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90D47A-2B66-8434-1E45-8BC1AF206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359" y="991374"/>
            <a:ext cx="10843065" cy="2518057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686F73-F592-E38E-FB01-9798C3863C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5304" y="4018143"/>
            <a:ext cx="5549111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Category </a:t>
            </a:r>
            <a:r>
              <a:rPr lang="en-US" sz="1500" dirty="0" err="1">
                <a:solidFill>
                  <a:schemeClr val="bg1"/>
                </a:solidFill>
              </a:rPr>
              <a:t>üzrə</a:t>
            </a:r>
            <a:r>
              <a:rPr lang="en-US" sz="1500" dirty="0">
                <a:solidFill>
                  <a:schemeClr val="bg1"/>
                </a:solidFill>
              </a:rPr>
              <a:t> m</a:t>
            </a:r>
            <a:r>
              <a:rPr lang="az-Latn-AZ" sz="1500" dirty="0">
                <a:solidFill>
                  <a:schemeClr val="bg1"/>
                </a:solidFill>
              </a:rPr>
              <a:t>ənzil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sahə</a:t>
            </a:r>
            <a:r>
              <a:rPr lang="az-Latn-AZ" sz="1500" dirty="0">
                <a:solidFill>
                  <a:schemeClr val="bg1"/>
                </a:solidFill>
              </a:rPr>
              <a:t>si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və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otaq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sayı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analizi</a:t>
            </a:r>
            <a:endParaRPr lang="en-US" sz="15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 dirty="0" err="1">
                <a:solidFill>
                  <a:schemeClr val="bg1"/>
                </a:solidFill>
              </a:rPr>
              <a:t>Nəticəyə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əsasən</a:t>
            </a:r>
            <a:r>
              <a:rPr lang="en-US" sz="1500" dirty="0">
                <a:solidFill>
                  <a:schemeClr val="bg1"/>
                </a:solidFill>
              </a:rPr>
              <a:t>, Yeni </a:t>
            </a:r>
            <a:r>
              <a:rPr lang="en-US" sz="1500" dirty="0" err="1">
                <a:solidFill>
                  <a:schemeClr val="bg1"/>
                </a:solidFill>
              </a:rPr>
              <a:t>tikililərdə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mənzillərin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orta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sahəsi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Köhnə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tikililərlə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müqayisədə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daha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böyükdür</a:t>
            </a:r>
            <a:r>
              <a:rPr lang="en-US" sz="1500" dirty="0">
                <a:solidFill>
                  <a:schemeClr val="bg1"/>
                </a:solidFill>
              </a:rPr>
              <a:t>. </a:t>
            </a:r>
            <a:r>
              <a:rPr lang="en-US" sz="1500" dirty="0" err="1">
                <a:solidFill>
                  <a:schemeClr val="bg1"/>
                </a:solidFill>
              </a:rPr>
              <a:t>Köhnə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tikililərdə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orta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sahə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təxminən</a:t>
            </a:r>
            <a:r>
              <a:rPr lang="en-US" sz="1500" dirty="0">
                <a:solidFill>
                  <a:schemeClr val="bg1"/>
                </a:solidFill>
              </a:rPr>
              <a:t> 71.65 m² olduğu </a:t>
            </a:r>
            <a:r>
              <a:rPr lang="en-US" sz="1500" dirty="0" err="1">
                <a:solidFill>
                  <a:schemeClr val="bg1"/>
                </a:solidFill>
              </a:rPr>
              <a:t>halda</a:t>
            </a:r>
            <a:r>
              <a:rPr lang="en-US" sz="1500" dirty="0">
                <a:solidFill>
                  <a:schemeClr val="bg1"/>
                </a:solidFill>
              </a:rPr>
              <a:t>, Yeni </a:t>
            </a:r>
            <a:r>
              <a:rPr lang="en-US" sz="1500" dirty="0" err="1">
                <a:solidFill>
                  <a:schemeClr val="bg1"/>
                </a:solidFill>
              </a:rPr>
              <a:t>tikililərdə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bu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göstərici</a:t>
            </a:r>
            <a:r>
              <a:rPr lang="en-US" sz="1500" dirty="0">
                <a:solidFill>
                  <a:schemeClr val="bg1"/>
                </a:solidFill>
              </a:rPr>
              <a:t> 117.60 m²-dir.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Buna </a:t>
            </a:r>
            <a:r>
              <a:rPr lang="en-US" sz="1500" dirty="0" err="1">
                <a:solidFill>
                  <a:schemeClr val="bg1"/>
                </a:solidFill>
              </a:rPr>
              <a:t>baxmayaraq</a:t>
            </a:r>
            <a:r>
              <a:rPr lang="en-US" sz="1500" dirty="0">
                <a:solidFill>
                  <a:schemeClr val="bg1"/>
                </a:solidFill>
              </a:rPr>
              <a:t>, </a:t>
            </a:r>
            <a:r>
              <a:rPr lang="en-US" sz="1500" dirty="0" err="1">
                <a:solidFill>
                  <a:schemeClr val="bg1"/>
                </a:solidFill>
              </a:rPr>
              <a:t>hər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iki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kateqoriyada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otaq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sayının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medianı</a:t>
            </a:r>
            <a:r>
              <a:rPr lang="en-US" sz="1500" dirty="0">
                <a:solidFill>
                  <a:schemeClr val="bg1"/>
                </a:solidFill>
              </a:rPr>
              <a:t> 3 </a:t>
            </a:r>
            <a:r>
              <a:rPr lang="en-US" sz="1500" dirty="0" err="1">
                <a:solidFill>
                  <a:schemeClr val="bg1"/>
                </a:solidFill>
              </a:rPr>
              <a:t>olaraq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qalır</a:t>
            </a:r>
            <a:r>
              <a:rPr lang="en-US" sz="1500" dirty="0">
                <a:solidFill>
                  <a:schemeClr val="bg1"/>
                </a:solidFill>
              </a:rPr>
              <a:t>. Bu </a:t>
            </a:r>
            <a:r>
              <a:rPr lang="en-US" sz="1500" dirty="0" err="1">
                <a:solidFill>
                  <a:schemeClr val="bg1"/>
                </a:solidFill>
              </a:rPr>
              <a:t>isə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göstərir</a:t>
            </a:r>
            <a:r>
              <a:rPr lang="en-US" sz="1500" dirty="0">
                <a:solidFill>
                  <a:schemeClr val="bg1"/>
                </a:solidFill>
              </a:rPr>
              <a:t> ki, Yeni </a:t>
            </a:r>
            <a:r>
              <a:rPr lang="en-US" sz="1500" dirty="0" err="1">
                <a:solidFill>
                  <a:schemeClr val="bg1"/>
                </a:solidFill>
              </a:rPr>
              <a:t>tikililərdə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otaq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sayı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ümumi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olaraq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dəyişməsə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də</a:t>
            </a:r>
            <a:r>
              <a:rPr lang="en-US" sz="1500" dirty="0">
                <a:solidFill>
                  <a:schemeClr val="bg1"/>
                </a:solidFill>
              </a:rPr>
              <a:t>, </a:t>
            </a:r>
            <a:r>
              <a:rPr lang="en-US" sz="1500" dirty="0" err="1">
                <a:solidFill>
                  <a:schemeClr val="bg1"/>
                </a:solidFill>
              </a:rPr>
              <a:t>mənzillərin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ümumi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sahəsi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daha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geniş</a:t>
            </a:r>
            <a:r>
              <a:rPr lang="en-US" sz="1500" dirty="0">
                <a:solidFill>
                  <a:schemeClr val="bg1"/>
                </a:solidFill>
              </a:rPr>
              <a:t> </a:t>
            </a:r>
            <a:r>
              <a:rPr lang="en-US" sz="1500" dirty="0" err="1">
                <a:solidFill>
                  <a:schemeClr val="bg1"/>
                </a:solidFill>
              </a:rPr>
              <a:t>olur</a:t>
            </a:r>
            <a:r>
              <a:rPr lang="en-US" sz="1500" dirty="0">
                <a:solidFill>
                  <a:schemeClr val="bg1"/>
                </a:solidFill>
              </a:rPr>
              <a:t>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6567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8F79F54-4D3D-2C8B-71C2-C1270635A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640" y="4038037"/>
            <a:ext cx="5107366" cy="2087424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az-Latn-AZ" sz="4800" dirty="0">
                <a:solidFill>
                  <a:schemeClr val="bg1"/>
                </a:solidFill>
              </a:rPr>
              <a:t>DESCR</a:t>
            </a:r>
            <a:r>
              <a:rPr lang="en-US" sz="4800" dirty="0">
                <a:solidFill>
                  <a:schemeClr val="bg1"/>
                </a:solidFill>
              </a:rPr>
              <a:t>IPTIVE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20CC4-F7A9-8695-829C-D9F6C65CE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3159" y="4038037"/>
            <a:ext cx="5017030" cy="2087426"/>
          </a:xfrm>
          <a:noFill/>
        </p:spPr>
        <p:txBody>
          <a:bodyPr anchor="t">
            <a:normAutofit/>
          </a:bodyPr>
          <a:lstStyle/>
          <a:p>
            <a:pPr algn="l"/>
            <a:r>
              <a:rPr lang="en-US" sz="1700" dirty="0">
                <a:solidFill>
                  <a:schemeClr val="bg1"/>
                </a:solidFill>
              </a:rPr>
              <a:t>Repair </a:t>
            </a:r>
            <a:r>
              <a:rPr lang="en-US" sz="1700" dirty="0" err="1">
                <a:solidFill>
                  <a:schemeClr val="bg1"/>
                </a:solidFill>
              </a:rPr>
              <a:t>və</a:t>
            </a:r>
            <a:r>
              <a:rPr lang="en-US" sz="1700" dirty="0">
                <a:solidFill>
                  <a:schemeClr val="bg1"/>
                </a:solidFill>
              </a:rPr>
              <a:t> Title Deed </a:t>
            </a:r>
            <a:r>
              <a:rPr lang="en-US" sz="1700" dirty="0" err="1">
                <a:solidFill>
                  <a:schemeClr val="bg1"/>
                </a:solidFill>
              </a:rPr>
              <a:t>üzrə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Tezlik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analizi</a:t>
            </a:r>
            <a:endParaRPr lang="en-US" sz="1700" dirty="0">
              <a:solidFill>
                <a:schemeClr val="bg1"/>
              </a:solidFill>
            </a:endParaRPr>
          </a:p>
          <a:p>
            <a:pPr algn="l"/>
            <a:r>
              <a:rPr lang="en-US" sz="1700" dirty="0" err="1">
                <a:solidFill>
                  <a:schemeClr val="bg1"/>
                </a:solidFill>
              </a:rPr>
              <a:t>Tezlik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analizi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nəticəsində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məlum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oldu</a:t>
            </a:r>
            <a:r>
              <a:rPr lang="en-US" sz="1700" dirty="0">
                <a:solidFill>
                  <a:schemeClr val="bg1"/>
                </a:solidFill>
              </a:rPr>
              <a:t> ki, </a:t>
            </a:r>
            <a:r>
              <a:rPr lang="en-US" sz="1700" dirty="0" err="1">
                <a:solidFill>
                  <a:schemeClr val="bg1"/>
                </a:solidFill>
              </a:rPr>
              <a:t>həm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təmirli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həm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mülkiyyət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sənədi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mənzillər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ümumi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mənzillərin</a:t>
            </a:r>
            <a:r>
              <a:rPr lang="en-US" sz="1700" dirty="0">
                <a:solidFill>
                  <a:schemeClr val="bg1"/>
                </a:solidFill>
              </a:rPr>
              <a:t> 65.9%-</a:t>
            </a:r>
            <a:r>
              <a:rPr lang="en-US" sz="1700" dirty="0" err="1">
                <a:solidFill>
                  <a:schemeClr val="bg1"/>
                </a:solidFill>
              </a:rPr>
              <a:t>ni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təşkil</a:t>
            </a:r>
            <a:r>
              <a:rPr lang="en-US" sz="1700" dirty="0">
                <a:solidFill>
                  <a:schemeClr val="bg1"/>
                </a:solidFill>
              </a:rPr>
              <a:t> edir. </a:t>
            </a:r>
            <a:r>
              <a:rPr lang="en-US" sz="1700" dirty="0" err="1">
                <a:solidFill>
                  <a:schemeClr val="bg1"/>
                </a:solidFill>
              </a:rPr>
              <a:t>Təmirli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olub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mülkiyyət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sənədi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olmayan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və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ya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əksinə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mənzillərin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payı</a:t>
            </a:r>
            <a:r>
              <a:rPr lang="en-US" sz="1700" dirty="0">
                <a:solidFill>
                  <a:schemeClr val="bg1"/>
                </a:solidFill>
              </a:rPr>
              <a:t> 25%, </a:t>
            </a:r>
            <a:r>
              <a:rPr lang="en-US" sz="1700" dirty="0" err="1">
                <a:solidFill>
                  <a:schemeClr val="bg1"/>
                </a:solidFill>
              </a:rPr>
              <a:t>nə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təmiri</a:t>
            </a:r>
            <a:r>
              <a:rPr lang="en-US" sz="1700" dirty="0">
                <a:solidFill>
                  <a:schemeClr val="bg1"/>
                </a:solidFill>
              </a:rPr>
              <a:t>, </a:t>
            </a:r>
            <a:r>
              <a:rPr lang="en-US" sz="1700" dirty="0" err="1">
                <a:solidFill>
                  <a:schemeClr val="bg1"/>
                </a:solidFill>
              </a:rPr>
              <a:t>nə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də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mülkiyyət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sənədi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olan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mənzillərin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payı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err="1">
                <a:solidFill>
                  <a:schemeClr val="bg1"/>
                </a:solidFill>
              </a:rPr>
              <a:t>isə</a:t>
            </a:r>
            <a:r>
              <a:rPr lang="en-US" sz="1700" dirty="0">
                <a:solidFill>
                  <a:schemeClr val="bg1"/>
                </a:solidFill>
              </a:rPr>
              <a:t> 9%-dir.</a:t>
            </a:r>
          </a:p>
          <a:p>
            <a:pPr algn="l"/>
            <a:endParaRPr lang="en-US" sz="17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1357F-2E84-676A-4FB8-8CE424FC48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8739" y="617779"/>
            <a:ext cx="9288304" cy="3265248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5504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9BE08B-B496-360F-4455-A8146B172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1AC47F-72B0-D139-EB15-B95C4B4CF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 dirty="0">
                <a:solidFill>
                  <a:srgbClr val="FFFFFF"/>
                </a:solidFill>
              </a:rPr>
              <a:t>Ko</a:t>
            </a:r>
            <a:r>
              <a:rPr lang="az-Latn-AZ" sz="2000" dirty="0">
                <a:solidFill>
                  <a:srgbClr val="FFFFFF"/>
                </a:solidFill>
              </a:rPr>
              <a:t>r</a:t>
            </a:r>
            <a:r>
              <a:rPr lang="en-US" sz="2000" dirty="0" err="1">
                <a:solidFill>
                  <a:srgbClr val="FFFFFF"/>
                </a:solidFill>
              </a:rPr>
              <a:t>relyasiya</a:t>
            </a:r>
            <a:r>
              <a:rPr lang="en-US" sz="2000" dirty="0">
                <a:solidFill>
                  <a:srgbClr val="FFFFFF"/>
                </a:solidFill>
              </a:rPr>
              <a:t> Analizi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73A12F-840B-E8F6-8107-FEFCAD811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35" y="1715865"/>
            <a:ext cx="11327549" cy="186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303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568A9-5974-2434-0624-EA2DA67A2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>
                <a:solidFill>
                  <a:srgbClr val="FFFFFF"/>
                </a:solidFill>
              </a:rPr>
              <a:t>DESCRIPTIVE STATISTICS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48D5C-B991-CA44-947A-C34222826F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HEATMAP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30BE86-32CE-1E32-2B44-A7DC491538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94" y="390832"/>
            <a:ext cx="11022231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0957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F17019-EE3E-36A3-FCFE-73165DA9F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1" y="2767106"/>
            <a:ext cx="2880828" cy="3071906"/>
          </a:xfrm>
        </p:spPr>
        <p:txBody>
          <a:bodyPr anchor="t">
            <a:normAutofit/>
          </a:bodyPr>
          <a:lstStyle/>
          <a:p>
            <a:pPr algn="l"/>
            <a:r>
              <a:rPr lang="en-US" sz="4000" dirty="0">
                <a:solidFill>
                  <a:srgbClr val="FFFFFF"/>
                </a:solidFill>
              </a:rPr>
              <a:t>OUTLIER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B62D59-723E-6ADF-36CA-ECEEE668C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42" y="806824"/>
            <a:ext cx="2919738" cy="1494117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bg1"/>
                </a:solidFill>
              </a:rPr>
              <a:t>Z-score </a:t>
            </a:r>
            <a:r>
              <a:rPr lang="en-US" sz="2000" dirty="0" err="1">
                <a:solidFill>
                  <a:schemeClr val="bg1"/>
                </a:solidFill>
              </a:rPr>
              <a:t>metodu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ilə</a:t>
            </a:r>
            <a:r>
              <a:rPr lang="en-US" sz="2000" dirty="0">
                <a:solidFill>
                  <a:schemeClr val="bg1"/>
                </a:solidFill>
              </a:rPr>
              <a:t> price </a:t>
            </a:r>
            <a:r>
              <a:rPr lang="en-US" sz="2000" dirty="0" err="1">
                <a:solidFill>
                  <a:schemeClr val="bg1"/>
                </a:solidFill>
              </a:rPr>
              <a:t>sütunu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üzrə</a:t>
            </a:r>
            <a:r>
              <a:rPr lang="en-US" sz="2000" dirty="0">
                <a:solidFill>
                  <a:schemeClr val="bg1"/>
                </a:solidFill>
              </a:rPr>
              <a:t> 472 outlier </a:t>
            </a:r>
            <a:r>
              <a:rPr lang="en-US" sz="2000" dirty="0" err="1">
                <a:solidFill>
                  <a:schemeClr val="bg1"/>
                </a:solidFill>
              </a:rPr>
              <a:t>aşkarlanmışdır</a:t>
            </a:r>
            <a:r>
              <a:rPr lang="en-US" sz="2000" dirty="0">
                <a:solidFill>
                  <a:schemeClr val="bg1"/>
                </a:solidFill>
              </a:rPr>
              <a:t>. Bu </a:t>
            </a:r>
            <a:r>
              <a:rPr lang="en-US" sz="2000" dirty="0" err="1">
                <a:solidFill>
                  <a:schemeClr val="bg1"/>
                </a:solidFill>
              </a:rPr>
              <a:t>göstərici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ümumi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datanın</a:t>
            </a:r>
            <a:r>
              <a:rPr lang="en-US" sz="2000" dirty="0">
                <a:solidFill>
                  <a:schemeClr val="bg1"/>
                </a:solidFill>
              </a:rPr>
              <a:t> 1.33%-</a:t>
            </a:r>
            <a:r>
              <a:rPr lang="en-US" sz="2000" dirty="0" err="1">
                <a:solidFill>
                  <a:schemeClr val="bg1"/>
                </a:solidFill>
              </a:rPr>
              <a:t>ni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təşkil</a:t>
            </a:r>
            <a:r>
              <a:rPr lang="en-US" sz="2000" dirty="0">
                <a:solidFill>
                  <a:schemeClr val="bg1"/>
                </a:solidFill>
              </a:rPr>
              <a:t> edir.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CC69FC-92FF-48B6-C8B8-8C72C176A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636179"/>
            <a:ext cx="7225748" cy="5585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3166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F1875-0954-6D39-A012-8C4D230EF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az-Latn-AZ" sz="4000" dirty="0">
                <a:solidFill>
                  <a:srgbClr val="FFFFFF"/>
                </a:solidFill>
              </a:rPr>
              <a:t>OUTL</a:t>
            </a:r>
            <a:r>
              <a:rPr lang="en-US" sz="4000" dirty="0">
                <a:solidFill>
                  <a:srgbClr val="FFFFFF"/>
                </a:solidFill>
              </a:rPr>
              <a:t>IER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E1136-50D3-DE80-09F7-BD1C0EDC6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2000" b="1" dirty="0" err="1">
                <a:solidFill>
                  <a:schemeClr val="bg1"/>
                </a:solidFill>
              </a:rPr>
              <a:t>Kateqoriyaya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görə</a:t>
            </a:r>
            <a:r>
              <a:rPr lang="en-US" sz="2000" b="1" dirty="0">
                <a:solidFill>
                  <a:schemeClr val="bg1"/>
                </a:solidFill>
              </a:rPr>
              <a:t> boxplot </a:t>
            </a:r>
            <a:r>
              <a:rPr lang="en-US" sz="2000" b="1" dirty="0" err="1">
                <a:solidFill>
                  <a:schemeClr val="bg1"/>
                </a:solidFill>
              </a:rPr>
              <a:t>analizi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18236D-C016-BED7-6B1A-220404F59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952" y="390832"/>
            <a:ext cx="10270714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204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CAFFA5-48A8-073F-8FC7-41E950990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 dirty="0" err="1">
                <a:solidFill>
                  <a:srgbClr val="FFFFFF"/>
                </a:solidFill>
              </a:rPr>
              <a:t>Təmir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vəziyyətinin</a:t>
            </a:r>
            <a:r>
              <a:rPr lang="en-US" sz="3700" dirty="0">
                <a:solidFill>
                  <a:srgbClr val="FFFFFF"/>
                </a:solidFill>
              </a:rPr>
              <a:t> 1 m² </a:t>
            </a:r>
            <a:r>
              <a:rPr lang="en-US" sz="3700" dirty="0" err="1">
                <a:solidFill>
                  <a:srgbClr val="FFFFFF"/>
                </a:solidFill>
              </a:rPr>
              <a:t>qiymətə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təsiri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106E0-4A5A-6595-5F54-5AD243B2F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Təmirli mənzillərdə 1 m² üzrə orta qiymət təmirsiz mənzillərlə müqayisədə daha yüksəkdir.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487BD5-338B-B009-0EFE-D99A39E5B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90" y="390832"/>
            <a:ext cx="9038238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01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96FD24-1B7B-BE79-FCF2-36FB65447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 dirty="0" err="1">
                <a:solidFill>
                  <a:srgbClr val="FFFFFF"/>
                </a:solidFill>
              </a:rPr>
              <a:t>Tikili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növünə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görə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sahə</a:t>
            </a:r>
            <a:r>
              <a:rPr lang="en-US" sz="3700" dirty="0">
                <a:solidFill>
                  <a:srgbClr val="FFFFFF"/>
                </a:solidFill>
              </a:rPr>
              <a:t> </a:t>
            </a:r>
            <a:r>
              <a:rPr lang="en-US" sz="3700" dirty="0" err="1">
                <a:solidFill>
                  <a:srgbClr val="FFFFFF"/>
                </a:solidFill>
              </a:rPr>
              <a:t>paylanması</a:t>
            </a:r>
            <a:endParaRPr lang="en-US" sz="37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DE434-F03B-FF6E-2A18-A0155FE11B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700">
                <a:solidFill>
                  <a:srgbClr val="FFFFFF"/>
                </a:solidFill>
              </a:rPr>
              <a:t>Yeni tikililərdə mənzillərin sahəsi köhnə tikililərə nisbətən daha geniş intervalda paylanır.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99B4F7-85E3-C606-EAFA-0F15271352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90" y="390832"/>
            <a:ext cx="9038238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2202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4900F6-FA70-6A81-55E6-8F03C406D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42" y="891652"/>
            <a:ext cx="4412021" cy="3030724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Dəyişənlər arasındakı əlaqələrin analizi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6301D-DC0F-91CD-8C36-E056E1988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791" y="4745317"/>
            <a:ext cx="4126272" cy="1375145"/>
          </a:xfrm>
        </p:spPr>
        <p:txBody>
          <a:bodyPr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Pairplot nəticələri sahə artdıqca ümumi qiymətin də yüksəlməyə meyilli olduğunu göstərir.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989021-87BE-818E-40BC-7298D16B7E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02615"/>
            <a:ext cx="5608320" cy="560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146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62358-86BE-DAB7-772E-CB62997E8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4000" dirty="0" err="1">
                <a:solidFill>
                  <a:srgbClr val="FFFFFF"/>
                </a:solidFill>
              </a:rPr>
              <a:t>Sahə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və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qiymət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arasındakı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əlaqə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8841E-0656-87DC-17F2-283733021C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900">
                <a:solidFill>
                  <a:srgbClr val="FFFFFF"/>
                </a:solidFill>
              </a:rPr>
              <a:t>Mənzilin sahəsi artdıqca ümumi qiymət də əsasən artır.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4C861-815B-C6E9-E46F-A22F6C8DD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90" y="390832"/>
            <a:ext cx="9038238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15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8035C-4E21-B86A-0DF4-14945433A5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US" sz="3700">
                <a:solidFill>
                  <a:srgbClr val="FFFFFF"/>
                </a:solidFill>
              </a:rPr>
              <a:t>Tikili növünə görə mərtəbə paylanması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0A69DF-A452-3356-8C4B-F8C89D3774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US" sz="1400">
                <a:solidFill>
                  <a:srgbClr val="FFFFFF"/>
                </a:solidFill>
              </a:rPr>
              <a:t>Yeni tikililər əsasən daha çoxmərtəbəli binalarda, köhnə tikililər isə daha aşağı mərtəbəli binalarda cəmlənmişdir.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E99F57-6E6A-91EA-83E6-47D99FA481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190" y="390832"/>
            <a:ext cx="9038238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511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F2BD18-136D-352A-163E-46181195E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7101" y="735283"/>
            <a:ext cx="4978399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5200"/>
              <a:t>Diqqətiniz üçün təşəkkür edirəm.</a:t>
            </a:r>
          </a:p>
        </p:txBody>
      </p:sp>
      <p:pic>
        <p:nvPicPr>
          <p:cNvPr id="6" name="Graphic 5" descr="Fan">
            <a:extLst>
              <a:ext uri="{FF2B5EF4-FFF2-40B4-BE49-F238E27FC236}">
                <a16:creationId xmlns:a16="http://schemas.microsoft.com/office/drawing/2014/main" id="{3AFDE309-C1B3-D20C-4EEE-36EC6A3453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Fan">
            <a:extLst>
              <a:ext uri="{FF2B5EF4-FFF2-40B4-BE49-F238E27FC236}">
                <a16:creationId xmlns:a16="http://schemas.microsoft.com/office/drawing/2014/main" id="{52EBEE83-02F8-450D-973F-AB7EA6A90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29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499</Words>
  <Application>Microsoft Office PowerPoint</Application>
  <PresentationFormat>Widescreen</PresentationFormat>
  <Paragraphs>42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Office Theme</vt:lpstr>
      <vt:lpstr>PowerPoint Presentation</vt:lpstr>
      <vt:lpstr>Layihənin məqsədi</vt:lpstr>
      <vt:lpstr>Məlumat dəstinə ümumi baxış</vt:lpstr>
      <vt:lpstr>DATA CLEANING</vt:lpstr>
      <vt:lpstr>DATA CLEANING</vt:lpstr>
      <vt:lpstr>Missing Values</vt:lpstr>
      <vt:lpstr>Missing Values</vt:lpstr>
      <vt:lpstr>DESCRIPTIVE STATISTICS</vt:lpstr>
      <vt:lpstr>PowerPoint Presentation</vt:lpstr>
      <vt:lpstr>DESCRIPTIVE STATISTICS</vt:lpstr>
      <vt:lpstr>DESCRIPTIVE STATISTICS</vt:lpstr>
      <vt:lpstr>DESCRIPTIVE STATISTICS</vt:lpstr>
      <vt:lpstr>DESCRIPTIVE STATISTICS</vt:lpstr>
      <vt:lpstr>OUTLIER DETECTION</vt:lpstr>
      <vt:lpstr>OUTLIER DETECTION</vt:lpstr>
      <vt:lpstr>Təmir vəziyyətinin 1 m² qiymətə təsiri</vt:lpstr>
      <vt:lpstr>Tikili növünə görə sahə paylanması</vt:lpstr>
      <vt:lpstr>Dəyişənlər arasındakı əlaqələrin analizi</vt:lpstr>
      <vt:lpstr>Sahə və qiymət arasındakı əlaqə</vt:lpstr>
      <vt:lpstr>Tikili növünə görə mərtəbə paylanması</vt:lpstr>
      <vt:lpstr>Diqqətiniz üçün təşəkkür edirəm.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Rufat Allahverdi</dc:creator>
  <cp:lastModifiedBy>Rufat Allahverdi</cp:lastModifiedBy>
  <cp:revision>17</cp:revision>
  <dcterms:created xsi:type="dcterms:W3CDTF">2026-06-07T13:03:12Z</dcterms:created>
  <dcterms:modified xsi:type="dcterms:W3CDTF">2026-06-07T15:32:20Z</dcterms:modified>
</cp:coreProperties>
</file>